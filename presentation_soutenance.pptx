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0" y="548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Prediction probabiliste</a:t>
            </a:r>
            <a:endParaRPr lang="en-US" sz="3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la fin d'un orage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2926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spc="300" kern="0" dirty="0">
                <a:solidFill>
                  <a:srgbClr val="F5C5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Battle 2026 — Meteorage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356616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B0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Anticipation intelligente de la levee d'alerte orageuse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B0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les aeroports europeens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74320" y="434340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 Pied Piper Jr.  —  HASSANA M. | KENGALI P. | KOMGUEM H. | MAFFO N. | MBASSI L. | MOGOU I.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1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Contexte et problematique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371600" cy="4572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188720"/>
            <a:ext cx="39319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188720"/>
            <a:ext cx="3931920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45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probleme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1828800"/>
            <a:ext cx="33832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300" b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Alerte fixe de 30-60 min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 le dernier eclair detecte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endParaRPr lang="en-US" sz="13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300" b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Centaines d'heures perdues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annee par aeroport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endParaRPr lang="en-US" sz="13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300" b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Approche conservative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ignore la dynamique de l'orage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1188720"/>
            <a:ext cx="39319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1188720"/>
            <a:ext cx="3931920" cy="54864"/>
          </a:xfrm>
          <a:prstGeom prst="rect">
            <a:avLst/>
          </a:prstGeom>
          <a:solidFill>
            <a:srgbClr val="00C897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0" y="1371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9B8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Notre solution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029200" y="1828800"/>
            <a:ext cx="33832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300" b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 probabiliste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estime la fin reelle de l'orage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endParaRPr lang="en-US" sz="13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300" b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de confiance [0,1]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chaque eclair CG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endParaRPr lang="en-US" sz="13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300" b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Levee anticipee de l'alerte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 score &gt;= theta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4754880"/>
            <a:ext cx="822960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Battle 2026 — Meteorage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1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Pipeline global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371600" cy="4572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donnee brute a la decision operationnelle</a:t>
            </a:r>
            <a:endParaRPr lang="en-US" sz="1300" dirty="0"/>
          </a:p>
        </p:txBody>
      </p:sp>
      <p:pic>
        <p:nvPicPr>
          <p:cNvPr id="5" name="Image 0" descr="/sessions/festive-compassionate-babbage/mnt/Data_Battle_2026/plots/mermaid_pipeline_glob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0"/>
            <a:ext cx="8595360" cy="3291840"/>
          </a:xfrm>
          <a:prstGeom prst="rect">
            <a:avLst/>
          </a:prstGeom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754880"/>
            <a:ext cx="822960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Battle 2026 — Meteorage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1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 donnees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371600" cy="4572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0"/>
            <a:ext cx="192024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14300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507K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7373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Eclairs train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606040" y="1097280"/>
            <a:ext cx="192024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606040" y="114300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F9B8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188K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606040" y="17373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Eclairs eval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097280"/>
            <a:ext cx="192024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54880" y="114300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945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754880" y="17373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Aeroports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903720" y="1097280"/>
            <a:ext cx="192024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903720" y="114300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C5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4.64%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903720" y="17373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Positifs (1:20)</a:t>
            </a:r>
            <a:endParaRPr lang="en-US" sz="1100" dirty="0"/>
          </a:p>
        </p:txBody>
      </p:sp>
      <p:pic>
        <p:nvPicPr>
          <p:cNvPr id="16" name="Image 0" descr="/sessions/festive-compassionate-babbage/mnt/Data_Battle_2026/plots/01_airport_analys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77440"/>
            <a:ext cx="8229600" cy="2286000"/>
          </a:xfrm>
          <a:prstGeom prst="rect">
            <a:avLst/>
          </a:prstGeom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pic>
      <p:sp>
        <p:nvSpPr>
          <p:cNvPr id="17" name="Shape 14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18" name="Text 15"/>
          <p:cNvSpPr/>
          <p:nvPr/>
        </p:nvSpPr>
        <p:spPr>
          <a:xfrm>
            <a:off x="457200" y="4754880"/>
            <a:ext cx="822960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Battle 2026 — Meteorage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1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Feature Engineering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371600" cy="4572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variables causales — aucune fuite de donnees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92024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417320"/>
            <a:ext cx="1920240" cy="457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508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Position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18288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rank_cg, t_since_start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2194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0F9B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Probabilite croissante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606040" y="1417320"/>
            <a:ext cx="192024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606040" y="1417320"/>
            <a:ext cx="1920240" cy="457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2" name="Text 10"/>
          <p:cNvSpPr/>
          <p:nvPr/>
        </p:nvSpPr>
        <p:spPr>
          <a:xfrm>
            <a:off x="2697480" y="1508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Temps inter-eclairs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697480" y="18288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dt_prev, dt_mean, dt_ema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697480" y="2194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0F9B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Espacement = fin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54880" y="1417320"/>
            <a:ext cx="192024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54880" y="1417320"/>
            <a:ext cx="1920240" cy="457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7" name="Text 15"/>
          <p:cNvSpPr/>
          <p:nvPr/>
        </p:nvSpPr>
        <p:spPr>
          <a:xfrm>
            <a:off x="4846320" y="1508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Distance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846320" y="18288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dist, dist_mean, trend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846320" y="2194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0F9B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Orage s'eloigne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03720" y="1417320"/>
            <a:ext cx="192024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903720" y="1417320"/>
            <a:ext cx="1920240" cy="457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22" name="Text 20"/>
          <p:cNvSpPr/>
          <p:nvPr/>
        </p:nvSpPr>
        <p:spPr>
          <a:xfrm>
            <a:off x="6995160" y="1508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Intensite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995160" y="18288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amp_abs, maxis, trend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995160" y="2194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0F9B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Declin energetique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2788920"/>
            <a:ext cx="192024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7200" y="2788920"/>
            <a:ext cx="1920240" cy="457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27" name="Text 25"/>
          <p:cNvSpPr/>
          <p:nvPr/>
        </p:nvSpPr>
        <p:spPr>
          <a:xfrm>
            <a:off x="548640" y="28803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Densite CG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8640" y="32004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n_cg_2/5/10/15/30min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48640" y="35661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0F9B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Ralentissement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606040" y="2788920"/>
            <a:ext cx="192024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2606040" y="2788920"/>
            <a:ext cx="1920240" cy="457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32" name="Text 30"/>
          <p:cNvSpPr/>
          <p:nvPr/>
        </p:nvSpPr>
        <p:spPr>
          <a:xfrm>
            <a:off x="2697480" y="28803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Contexte IC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2697480" y="32004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n_ic, ratio_ic_cg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2697480" y="35661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0F9B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Precurseur de fin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754880" y="2788920"/>
            <a:ext cx="192024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754880" y="2788920"/>
            <a:ext cx="1920240" cy="457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37" name="Text 35"/>
          <p:cNvSpPr/>
          <p:nvPr/>
        </p:nvSpPr>
        <p:spPr>
          <a:xfrm>
            <a:off x="4846320" y="28803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Metadata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846320" y="32004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month, hour, azimuth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846320" y="35661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0F9B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Saisonnalite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41" name="Text 39"/>
          <p:cNvSpPr/>
          <p:nvPr/>
        </p:nvSpPr>
        <p:spPr>
          <a:xfrm>
            <a:off x="457200" y="4754880"/>
            <a:ext cx="822960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Battle 2026 — Meteorage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1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Flux de prediction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371600" cy="4572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chaque eclair CG : calcul des features, score, decision</a:t>
            </a:r>
            <a:endParaRPr lang="en-US" sz="1300" dirty="0"/>
          </a:p>
        </p:txBody>
      </p:sp>
      <p:pic>
        <p:nvPicPr>
          <p:cNvPr id="5" name="Image 0" descr="/sessions/festive-compassionate-babbage/mnt/Data_Battle_2026/plots/mermaid_flux_predi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325880"/>
            <a:ext cx="7315200" cy="3383280"/>
          </a:xfrm>
          <a:prstGeom prst="rect">
            <a:avLst/>
          </a:prstGeom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754880"/>
            <a:ext cx="822960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Battle 2026 — Meteorage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1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Signaux discriminants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371600" cy="4572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51560"/>
            <a:ext cx="265176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05156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945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+167%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737360" y="105156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Espacement temporel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37560" y="1051560"/>
            <a:ext cx="265176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337560" y="105156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945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+13%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617720" y="105156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a l'aeroport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051560"/>
            <a:ext cx="265176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17920" y="105156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945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-81%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498080" y="105156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Densite d'activite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96012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dernier eclair CG vs les eclairs precedents</a:t>
            </a:r>
            <a:endParaRPr lang="en-US" sz="1000" dirty="0"/>
          </a:p>
        </p:txBody>
      </p:sp>
      <p:pic>
        <p:nvPicPr>
          <p:cNvPr id="14" name="Image 0" descr="/sessions/festive-compassionate-babbage/mnt/Data_Battle_2026/plots/05_last_lightning_analys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057400"/>
            <a:ext cx="8595360" cy="2606040"/>
          </a:xfrm>
          <a:prstGeom prst="rect">
            <a:avLst/>
          </a:prstGeom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pic>
      <p:sp>
        <p:nvSpPr>
          <p:cNvPr id="15" name="Shape 1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16" name="Text 13"/>
          <p:cNvSpPr/>
          <p:nvPr/>
        </p:nvSpPr>
        <p:spPr>
          <a:xfrm>
            <a:off x="457200" y="4754880"/>
            <a:ext cx="822960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Battle 2026 — Meteorage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1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Importance des features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371600" cy="4572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20 features par gain LightGBM — l'azimuth, le maxis et la distance dominent</a:t>
            </a:r>
            <a:endParaRPr lang="en-US" sz="1300" dirty="0"/>
          </a:p>
        </p:txBody>
      </p:sp>
      <p:pic>
        <p:nvPicPr>
          <p:cNvPr id="5" name="Image 0" descr="/sessions/festive-compassionate-babbage/mnt/Data_Battle_2026/plots/17_feature_importance_f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8229600" cy="3200400"/>
          </a:xfrm>
          <a:prstGeom prst="rect">
            <a:avLst/>
          </a:prstGeom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754880"/>
            <a:ext cx="822960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Battle 2026 — Meteorage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1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Comparaison des modeles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371600" cy="45720"/>
          </a:xfrm>
          <a:prstGeom prst="rect">
            <a:avLst/>
          </a:prstGeom>
          <a:solidFill>
            <a:srgbClr val="E94560"/>
          </a:solidFill>
          <a:ln/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1828800"/>
        </p:xfrm>
        <a:graphic>
          <a:graphicData uri="http://schemas.openxmlformats.org/drawingml/2006/table">
            <a:tbl>
              <a:tblPr/>
              <a:tblGrid>
                <a:gridCol w="2926080"/>
                <a:gridCol w="1325880"/>
                <a:gridCol w="1325880"/>
                <a:gridCol w="1325880"/>
                <a:gridCol w="132588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AUC-ROC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AUC-PR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Ensemble (LGB+XGB+per-ap)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 tuned (1500)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LightGBM tuned (2000)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 balanced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 Regression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063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Desequilibre 4.64% → l'accuracy est inadaptee. AUC-PR et F1 sont les metriques de reference.</a:t>
            </a:r>
            <a:endParaRPr lang="en-US" sz="1100" dirty="0"/>
          </a:p>
        </p:txBody>
      </p:sp>
      <p:pic>
        <p:nvPicPr>
          <p:cNvPr id="6" name="Image 0" descr="/sessions/festive-compassionate-babbage/mnt/Data_Battle_2026/plots/15_precision_recall_curv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337560"/>
            <a:ext cx="3931920" cy="1417320"/>
          </a:xfrm>
          <a:prstGeom prst="rect">
            <a:avLst/>
          </a:prstGeom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pic>
      <p:pic>
        <p:nvPicPr>
          <p:cNvPr id="7" name="Image 1" descr="/sessions/festive-compassionate-babbage/mnt/Data_Battle_2026/plots/16_roc_curv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3337560"/>
            <a:ext cx="3931920" cy="1417320"/>
          </a:xfrm>
          <a:prstGeom prst="rect">
            <a:avLst/>
          </a:prstGeom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pic>
      <p:sp>
        <p:nvSpPr>
          <p:cNvPr id="8" name="Shape 3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9" name="Text 4"/>
          <p:cNvSpPr/>
          <p:nvPr/>
        </p:nvSpPr>
        <p:spPr>
          <a:xfrm>
            <a:off x="457200" y="4754880"/>
            <a:ext cx="822960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Battle 2026 — Meteorage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1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Evaluation operationnelle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371600" cy="4572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51560"/>
            <a:ext cx="192024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09728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945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548.3h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 total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8745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1081 alertes eval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606040" y="1051560"/>
            <a:ext cx="192024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606040" y="109728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F34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30.4 min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2606040" y="1600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 par alerte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606040" y="18745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0 min baseline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54880" y="1051560"/>
            <a:ext cx="192024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0" y="109728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C89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1.76%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754880" y="1600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54880" y="18745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contrainte &lt; 2%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903720" y="1051560"/>
            <a:ext cx="192024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903720" y="109728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5C5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0.85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903720" y="1600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Seuil theta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903720" y="18745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global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68880"/>
          <a:ext cx="8229600" cy="2011680"/>
        </p:xfrm>
        <a:graphic>
          <a:graphicData uri="http://schemas.openxmlformats.org/drawingml/2006/table">
            <a:tbl>
              <a:tblPr/>
              <a:tblGrid>
                <a:gridCol w="2560320"/>
                <a:gridCol w="1097280"/>
                <a:gridCol w="1371600"/>
                <a:gridCol w="1371600"/>
                <a:gridCol w="182880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Gain (h)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Risque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Gain/alerte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 (30 min)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min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LightGBM global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278.5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 min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Ensemble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404.0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 min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 global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548.3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C8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30.4 min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LightGBM per-airport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573.8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31.8 min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22" name="Text 19"/>
          <p:cNvSpPr/>
          <p:nvPr/>
        </p:nvSpPr>
        <p:spPr>
          <a:xfrm>
            <a:off x="457200" y="4754880"/>
            <a:ext cx="822960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Battle 2026 — Meteorage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1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Gain vs Risque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371600" cy="45720"/>
          </a:xfrm>
          <a:prstGeom prst="rect">
            <a:avLst/>
          </a:prstGeom>
          <a:solidFill>
            <a:srgbClr val="E94560"/>
          </a:solidFill>
          <a:ln/>
        </p:spPr>
      </p:sp>
      <p:pic>
        <p:nvPicPr>
          <p:cNvPr id="4" name="Image 0" descr="/sessions/festive-compassionate-babbage/mnt/Data_Battle_2026/plots/18_operational_evalu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51560"/>
            <a:ext cx="4114800" cy="3200400"/>
          </a:xfrm>
          <a:prstGeom prst="rect">
            <a:avLst/>
          </a:prstGeom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pic>
      <p:pic>
        <p:nvPicPr>
          <p:cNvPr id="5" name="Image 1" descr="/sessions/festive-compassionate-babbage/mnt/Data_Battle_2026/plots/19_gain_vs_ris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051560"/>
            <a:ext cx="4297680" cy="3200400"/>
          </a:xfrm>
          <a:prstGeom prst="rect">
            <a:avLst/>
          </a:prstGeom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pic>
      <p:sp>
        <p:nvSpPr>
          <p:cNvPr id="6" name="Text 2"/>
          <p:cNvSpPr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pleins = Risque &lt; 2% (zone valide)  |  Croix = Risque &gt;= 2%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754880"/>
            <a:ext cx="822960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Battle 2026 — Meteorage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1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Performances par aeroport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371600" cy="45720"/>
          </a:xfrm>
          <a:prstGeom prst="rect">
            <a:avLst/>
          </a:prstGeom>
          <a:solidFill>
            <a:srgbClr val="E94560"/>
          </a:solidFill>
          <a:ln/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1920240"/>
        </p:xfrm>
        <a:graphic>
          <a:graphicData uri="http://schemas.openxmlformats.org/drawingml/2006/table">
            <a:tbl>
              <a:tblPr/>
              <a:tblGrid>
                <a:gridCol w="1280160"/>
                <a:gridCol w="914400"/>
                <a:gridCol w="914400"/>
                <a:gridCol w="1005840"/>
                <a:gridCol w="411480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Aeroport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Theta opt.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Profil meteo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Ajaccio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Convection mediterraneenne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Bastia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Mediterraneen, variabilite moderee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Biarritz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Atlantique, trajectoires O-E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Nantes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Continental, peu d'alertes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Ligurien, fort ratio IC/CG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017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Variabilite des seuils (0.079 Nantes vs 0.422 Pise) → justifie les modeles specialises</a:t>
            </a:r>
            <a:endParaRPr lang="en-US" sz="1200" dirty="0"/>
          </a:p>
        </p:txBody>
      </p:sp>
      <p:pic>
        <p:nvPicPr>
          <p:cNvPr id="6" name="Image 0" descr="/sessions/festive-compassionate-babbage/mnt/Data_Battle_2026/plots/06_alert_examp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337560"/>
            <a:ext cx="8229600" cy="1417320"/>
          </a:xfrm>
          <a:prstGeom prst="rect">
            <a:avLst/>
          </a:prstGeom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pic>
      <p:sp>
        <p:nvSpPr>
          <p:cNvPr id="7" name="Shape 3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754880"/>
            <a:ext cx="822960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Battle 2026 — Meteorage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1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Streamlit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371600" cy="4572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databattle-ai-2026.streamlit.app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822960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463040"/>
            <a:ext cx="64008" cy="91440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53619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828800" y="1536192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Prediction en temps reel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828800" y="187452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Selectionner un aeroport et une alerte, ajuster theta, visualiser le score de confiance en 3 panneaux (score, distance, activite CG)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560320"/>
            <a:ext cx="822960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560320"/>
            <a:ext cx="64008" cy="91440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63347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828800" y="2633472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Analyse exploratoire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828800" y="297180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figures EDA : distribution par aeroport, saisonnalite, structure des alertes, signaux discriminants, courbes operationnelles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3657600"/>
            <a:ext cx="64008" cy="91440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73075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828800" y="3730752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Guide d'utilisation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828800" y="406908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des seuils par aeroport, interpretation du score, pipeline technique complet et format CSV attendu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4754880"/>
            <a:ext cx="822960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Battle 2026 — Meteorage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1371600" y="1234440"/>
            <a:ext cx="6400800" cy="64008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1234440"/>
            <a:ext cx="548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194560" y="123444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548.3 heures de gain operationnel sur 1081 alertes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371600" y="2011680"/>
            <a:ext cx="6400800" cy="64008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554480" y="2011680"/>
            <a:ext cx="548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194560" y="201168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 de 1.76% — contrainte de securite &lt; 2% respectee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371600" y="2788920"/>
            <a:ext cx="6400800" cy="64008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554480" y="2788920"/>
            <a:ext cx="548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⏱️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194560" y="278892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minutes recuperees par alerte en moyenne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371600" y="3566160"/>
            <a:ext cx="6400800" cy="64008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554480" y="3566160"/>
            <a:ext cx="548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🏢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2194560" y="35661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Modeles specialises par aeroport pour capturer les specificites locales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43891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F5C5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Merci — Questions ?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Prediction probabiliste de la fin d'un orage</dc:title>
  <dc:subject>PptxGenJS Presentation</dc:subject>
  <dc:creator>Data Battle 2026</dc:creator>
  <cp:lastModifiedBy>Data Battle 2026</cp:lastModifiedBy>
  <cp:revision>1</cp:revision>
  <dcterms:created xsi:type="dcterms:W3CDTF">2026-03-27T07:24:51Z</dcterms:created>
  <dcterms:modified xsi:type="dcterms:W3CDTF">2026-03-27T07:24:51Z</dcterms:modified>
</cp:coreProperties>
</file>